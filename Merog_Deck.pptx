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المقدمة" id="{9ef54278-7bbd-3d8a-e966-a3d9a497505d}">
          <p14:sldIdLst>
            <p14:sldId id="256"/>
            <p14:sldId id="257"/>
          </p14:sldIdLst>
        </p14:section>
        <p14:section name="ممشى المروج" id="{76b6f881-7239-1467-c2d9-b1910b210d49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ممشى العصان" id="{b15d3d1c-46b8-020f-4569-f1501f5dda0c}">
          <p14:sldIdLst>
            <p14:sldId id="270"/>
            <p14:sldId id="271"/>
            <p14:sldId id="272"/>
          </p14:sldIdLst>
        </p14:section>
        <p14:section name="الختام" id="{fcaff83f-5033-4691-862b-acbbc251daec}">
          <p14:sldIdLst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F35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chemeClr val="tx1">
              <a:alpha val="40000"/>
            </a:schemeClr>
          </a:solidFill>
          <a:ln w="15875">
            <a:solidFill>
              <a:schemeClr val="accent5"/>
            </a:solidFill>
            <a:prstDash val="dash"/>
          </a:ln>
        </p:spPr>
      </p:sp>
      <p:sp>
        <p:nvSpPr>
          <p:cNvPr id="4" name="Text 2"/>
          <p:cNvSpPr/>
          <p:nvPr>
            <p:ph idx="102" hasCustomPrompt="1"/>
          </p:nvPr>
        </p:nvSpPr>
        <p:spPr>
          <a:xfrm>
            <a:off x="0" y="0"/>
            <a:ext cx="5029200" cy="685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400" dirty="0">
                <a:solidFill>
                  <a:schemeClr val="accent2"/>
                </a:solidFill>
                <a:latin typeface="Tajawal" pitchFamily="34" charset="0"/>
                <a:ea typeface="Tajawal" pitchFamily="34" charset="-122"/>
                <a:cs typeface="Tajawal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اسحب الصورة وأفلتها هنا</a:t>
            </a:r>
            <a:endParaRPr lang="en-US" sz="1400" dirty="0"/>
          </a:p>
        </p:txBody>
      </p:sp>
      <p:pic>
        <p:nvPicPr>
          <p:cNvPr id="5" name="Image 0" descr="/home/claude/work/ahb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8752" y="502920"/>
            <a:ext cx="1051560" cy="813816"/>
          </a:xfrm>
          <a:prstGeom prst="rect">
            <a:avLst/>
          </a:prstGeom>
        </p:spPr>
      </p:pic>
      <p:sp>
        <p:nvSpPr>
          <p:cNvPr id="6" name="Text 2"/>
          <p:cNvSpPr/>
          <p:nvPr>
            <p:ph idx="104" type="title" hasCustomPrompt="1"/>
          </p:nvPr>
        </p:nvSpPr>
        <p:spPr>
          <a:xfrm>
            <a:off x="5669280" y="2286000"/>
            <a:ext cx="5971032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5400" b="1" dirty="0">
                <a:solidFill>
                  <a:schemeClr val="bg1"/>
                </a:solidFill>
                <a:latin typeface="Tajawal" pitchFamily="34" charset="0"/>
                <a:ea typeface="Tajawal" pitchFamily="34" charset="-122"/>
                <a:cs typeface="Tajawal" pitchFamily="34" charset="-120"/>
              </a:defRPr>
            </a:lvl1pPr>
          </a:lstStyle>
          <a:p>
            <a:pPr algn="r" indent="0" marL="0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548640"/>
            <a:ext cx="4937760" cy="3931920"/>
          </a:xfrm>
          <a:prstGeom prst="rect">
            <a:avLst/>
          </a:prstGeom>
          <a:solidFill>
            <a:schemeClr val="accent3">
              <a:alpha val="55000"/>
            </a:schemeClr>
          </a:solidFill>
          <a:ln w="15875">
            <a:solidFill>
              <a:schemeClr val="accent2"/>
            </a:solidFill>
            <a:prstDash val="dash"/>
          </a:ln>
        </p:spPr>
      </p:sp>
      <p:sp>
        <p:nvSpPr>
          <p:cNvPr id="4" name="Text 2"/>
          <p:cNvSpPr/>
          <p:nvPr>
            <p:ph idx="102" hasCustomPrompt="1"/>
          </p:nvPr>
        </p:nvSpPr>
        <p:spPr>
          <a:xfrm>
            <a:off x="548640" y="548640"/>
            <a:ext cx="4937760" cy="3931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400" dirty="0">
                <a:solidFill>
                  <a:schemeClr val="accent2"/>
                </a:solidFill>
                <a:latin typeface="Tajawal" pitchFamily="34" charset="0"/>
                <a:ea typeface="Tajawal" pitchFamily="34" charset="-122"/>
                <a:cs typeface="Tajawal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اسحب الصورة وأفلتها هنا</a:t>
            </a:r>
            <a:endParaRPr lang="en-US" sz="1400" dirty="0"/>
          </a:p>
        </p:txBody>
      </p:sp>
      <p:pic>
        <p:nvPicPr>
          <p:cNvPr id="5" name="Image 0" descr="/home/claude/work/ahb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236208"/>
            <a:ext cx="676656" cy="521208"/>
          </a:xfrm>
          <a:prstGeom prst="rect">
            <a:avLst/>
          </a:prstGeom>
        </p:spPr>
      </p:pic>
      <p:sp>
        <p:nvSpPr>
          <p:cNvPr id="6" name="Text 2"/>
          <p:cNvSpPr/>
          <p:nvPr>
            <p:ph idx="104" type="title" hasCustomPrompt="1"/>
          </p:nvPr>
        </p:nvSpPr>
        <p:spPr>
          <a:xfrm>
            <a:off x="5852160" y="868680"/>
            <a:ext cx="578815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3400" b="1" dirty="0">
                <a:solidFill>
                  <a:schemeClr val="tx1"/>
                </a:solidFill>
                <a:latin typeface="Tajawal" pitchFamily="34" charset="0"/>
                <a:ea typeface="Tajawal" pitchFamily="34" charset="-122"/>
                <a:cs typeface="Tajawal" pitchFamily="34" charset="-120"/>
              </a:defRPr>
            </a:lvl1pPr>
          </a:lstStyle>
          <a:p>
            <a:pPr algn="r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36792"/>
            <a:ext cx="667512" cy="32552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2"/>
                </a:solidFill>
                <a:latin typeface="Tajawal"/>
                <a:ea typeface="Tajawal"/>
                <a:cs typeface="Tajaw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PIC_T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548640"/>
            <a:ext cx="4937760" cy="5394960"/>
          </a:xfrm>
          <a:prstGeom prst="rect">
            <a:avLst/>
          </a:prstGeom>
          <a:solidFill>
            <a:schemeClr val="accent3">
              <a:alpha val="55000"/>
            </a:schemeClr>
          </a:solidFill>
          <a:ln w="15875">
            <a:solidFill>
              <a:schemeClr val="accent2"/>
            </a:solidFill>
            <a:prstDash val="dash"/>
          </a:ln>
        </p:spPr>
      </p:sp>
      <p:sp>
        <p:nvSpPr>
          <p:cNvPr id="4" name="Text 2"/>
          <p:cNvSpPr/>
          <p:nvPr>
            <p:ph idx="102" hasCustomPrompt="1"/>
          </p:nvPr>
        </p:nvSpPr>
        <p:spPr>
          <a:xfrm>
            <a:off x="548640" y="548640"/>
            <a:ext cx="4937760" cy="5394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400" dirty="0">
                <a:solidFill>
                  <a:schemeClr val="accent2"/>
                </a:solidFill>
                <a:latin typeface="Tajawal" pitchFamily="34" charset="0"/>
                <a:ea typeface="Tajawal" pitchFamily="34" charset="-122"/>
                <a:cs typeface="Tajawal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اسحب الصورة وأفلتها هنا</a:t>
            </a:r>
            <a:endParaRPr lang="en-US" sz="1400" dirty="0"/>
          </a:p>
        </p:txBody>
      </p:sp>
      <p:pic>
        <p:nvPicPr>
          <p:cNvPr id="5" name="Image 0" descr="/home/claude/work/ahb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236208"/>
            <a:ext cx="676656" cy="521208"/>
          </a:xfrm>
          <a:prstGeom prst="rect">
            <a:avLst/>
          </a:prstGeom>
        </p:spPr>
      </p:pic>
      <p:sp>
        <p:nvSpPr>
          <p:cNvPr id="6" name="Text 2"/>
          <p:cNvSpPr/>
          <p:nvPr>
            <p:ph idx="104" type="title" hasCustomPrompt="1"/>
          </p:nvPr>
        </p:nvSpPr>
        <p:spPr>
          <a:xfrm>
            <a:off x="5852160" y="868680"/>
            <a:ext cx="578815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3400" b="1" dirty="0">
                <a:solidFill>
                  <a:schemeClr val="tx1"/>
                </a:solidFill>
                <a:latin typeface="Tajawal" pitchFamily="34" charset="0"/>
                <a:ea typeface="Tajawal" pitchFamily="34" charset="-122"/>
                <a:cs typeface="Tajawal" pitchFamily="34" charset="-120"/>
              </a:defRPr>
            </a:lvl1pPr>
          </a:lstStyle>
          <a:p>
            <a:pPr algn="r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36792"/>
            <a:ext cx="667512" cy="32552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2"/>
                </a:solidFill>
                <a:latin typeface="Tajawal"/>
                <a:ea typeface="Tajawal"/>
                <a:cs typeface="Tajaw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1691640"/>
            <a:ext cx="7680960" cy="4343400"/>
          </a:xfrm>
          <a:prstGeom prst="rect">
            <a:avLst/>
          </a:prstGeom>
          <a:solidFill>
            <a:schemeClr val="accent3">
              <a:alpha val="55000"/>
            </a:schemeClr>
          </a:solidFill>
          <a:ln w="15875">
            <a:solidFill>
              <a:schemeClr val="accent2"/>
            </a:solidFill>
            <a:prstDash val="dash"/>
          </a:ln>
        </p:spPr>
      </p:sp>
      <p:sp>
        <p:nvSpPr>
          <p:cNvPr id="4" name="Text 2"/>
          <p:cNvSpPr/>
          <p:nvPr>
            <p:ph idx="102" hasCustomPrompt="1"/>
          </p:nvPr>
        </p:nvSpPr>
        <p:spPr>
          <a:xfrm>
            <a:off x="548640" y="1691640"/>
            <a:ext cx="7680960" cy="4343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400" dirty="0">
                <a:solidFill>
                  <a:schemeClr val="accent2"/>
                </a:solidFill>
                <a:latin typeface="Tajawal" pitchFamily="34" charset="0"/>
                <a:ea typeface="Tajawal" pitchFamily="34" charset="-122"/>
                <a:cs typeface="Tajawal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اسحب الصورة وأفلتها هنا</a:t>
            </a:r>
            <a:endParaRPr lang="en-US" sz="1400" dirty="0"/>
          </a:p>
        </p:txBody>
      </p:sp>
      <p:pic>
        <p:nvPicPr>
          <p:cNvPr id="5" name="Image 0" descr="/home/claude/work/ahb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236208"/>
            <a:ext cx="676656" cy="521208"/>
          </a:xfrm>
          <a:prstGeom prst="rect">
            <a:avLst/>
          </a:prstGeom>
        </p:spPr>
      </p:pic>
      <p:sp>
        <p:nvSpPr>
          <p:cNvPr id="6" name="Text 2"/>
          <p:cNvSpPr/>
          <p:nvPr>
            <p:ph idx="104" type="title" hasCustomPrompt="1"/>
          </p:nvPr>
        </p:nvSpPr>
        <p:spPr>
          <a:xfrm>
            <a:off x="548640" y="50292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3400" b="1" dirty="0">
                <a:solidFill>
                  <a:schemeClr val="tx1"/>
                </a:solidFill>
                <a:latin typeface="Tajawal" pitchFamily="34" charset="0"/>
                <a:ea typeface="Tajawal" pitchFamily="34" charset="-122"/>
                <a:cs typeface="Tajawal" pitchFamily="34" charset="-120"/>
              </a:defRPr>
            </a:lvl1pPr>
          </a:lstStyle>
          <a:p>
            <a:pPr algn="r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36792"/>
            <a:ext cx="667512" cy="32552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2"/>
                </a:solidFill>
                <a:latin typeface="Tajawal"/>
                <a:ea typeface="Tajawal"/>
                <a:cs typeface="Tajawal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3" name="Image 0" descr="/home/claude/work/ahb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236208"/>
            <a:ext cx="676656" cy="521208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50292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3400" b="1" dirty="0">
                <a:solidFill>
                  <a:schemeClr val="tx1"/>
                </a:solidFill>
                <a:latin typeface="Tajawal" pitchFamily="34" charset="0"/>
                <a:ea typeface="Tajawal" pitchFamily="34" charset="-122"/>
                <a:cs typeface="Tajawal" pitchFamily="34" charset="-120"/>
              </a:defRPr>
            </a:lvl1pPr>
          </a:lstStyle>
          <a:p>
            <a:pPr algn="r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36792"/>
            <a:ext cx="667512" cy="32552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2"/>
                </a:solidFill>
                <a:latin typeface="Tajawal"/>
                <a:ea typeface="Tajawal"/>
                <a:cs typeface="Tajawal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I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1737360"/>
            <a:ext cx="3511296" cy="3657600"/>
          </a:xfrm>
          <a:prstGeom prst="rect">
            <a:avLst/>
          </a:prstGeom>
          <a:solidFill>
            <a:schemeClr val="accent3">
              <a:alpha val="55000"/>
            </a:schemeClr>
          </a:solidFill>
          <a:ln w="15875">
            <a:solidFill>
              <a:schemeClr val="accent2"/>
            </a:solidFill>
            <a:prstDash val="dash"/>
          </a:ln>
        </p:spPr>
      </p:sp>
      <p:sp>
        <p:nvSpPr>
          <p:cNvPr id="4" name="Text 2"/>
          <p:cNvSpPr/>
          <p:nvPr>
            <p:ph idx="102" hasCustomPrompt="1"/>
          </p:nvPr>
        </p:nvSpPr>
        <p:spPr>
          <a:xfrm>
            <a:off x="548640" y="1737360"/>
            <a:ext cx="3511296" cy="3657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400" dirty="0">
                <a:solidFill>
                  <a:schemeClr val="accent2"/>
                </a:solidFill>
                <a:latin typeface="Tajawal" pitchFamily="34" charset="0"/>
                <a:ea typeface="Tajawal" pitchFamily="34" charset="-122"/>
                <a:cs typeface="Tajawal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اسحب الصورة وأفلتها هنا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343400" y="1737360"/>
            <a:ext cx="3511296" cy="3657600"/>
          </a:xfrm>
          <a:prstGeom prst="rect">
            <a:avLst/>
          </a:prstGeom>
          <a:solidFill>
            <a:schemeClr val="accent3">
              <a:alpha val="55000"/>
            </a:schemeClr>
          </a:solidFill>
          <a:ln w="15875">
            <a:solidFill>
              <a:schemeClr val="accent2"/>
            </a:solidFill>
            <a:prstDash val="dash"/>
          </a:ln>
        </p:spPr>
      </p:sp>
      <p:sp>
        <p:nvSpPr>
          <p:cNvPr id="6" name="Text 3"/>
          <p:cNvSpPr/>
          <p:nvPr>
            <p:ph idx="104" hasCustomPrompt="1"/>
          </p:nvPr>
        </p:nvSpPr>
        <p:spPr>
          <a:xfrm>
            <a:off x="4343400" y="1737360"/>
            <a:ext cx="3511296" cy="3657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400" dirty="0">
                <a:solidFill>
                  <a:schemeClr val="accent2"/>
                </a:solidFill>
                <a:latin typeface="Tajawal" pitchFamily="34" charset="0"/>
                <a:ea typeface="Tajawal" pitchFamily="34" charset="-122"/>
                <a:cs typeface="Tajawal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اسحب الصورة وأفلتها هنا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8129016" y="1737360"/>
            <a:ext cx="3511296" cy="3657600"/>
          </a:xfrm>
          <a:prstGeom prst="rect">
            <a:avLst/>
          </a:prstGeom>
          <a:solidFill>
            <a:schemeClr val="accent3">
              <a:alpha val="55000"/>
            </a:schemeClr>
          </a:solidFill>
          <a:ln w="15875">
            <a:solidFill>
              <a:schemeClr val="accent2"/>
            </a:solidFill>
            <a:prstDash val="dash"/>
          </a:ln>
        </p:spPr>
      </p:sp>
      <p:sp>
        <p:nvSpPr>
          <p:cNvPr id="8" name="Text 4"/>
          <p:cNvSpPr/>
          <p:nvPr>
            <p:ph idx="106" hasCustomPrompt="1"/>
          </p:nvPr>
        </p:nvSpPr>
        <p:spPr>
          <a:xfrm>
            <a:off x="8129016" y="1737360"/>
            <a:ext cx="3511296" cy="3657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400" dirty="0">
                <a:solidFill>
                  <a:schemeClr val="accent2"/>
                </a:solidFill>
                <a:latin typeface="Tajawal" pitchFamily="34" charset="0"/>
                <a:ea typeface="Tajawal" pitchFamily="34" charset="-122"/>
                <a:cs typeface="Tajawal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اسحب الصورة وأفلتها هنا</a:t>
            </a:r>
            <a:endParaRPr lang="en-US" sz="1400" dirty="0"/>
          </a:p>
        </p:txBody>
      </p:sp>
      <p:pic>
        <p:nvPicPr>
          <p:cNvPr id="9" name="Image 0" descr="/home/claude/work/ahb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236208"/>
            <a:ext cx="676656" cy="521208"/>
          </a:xfrm>
          <a:prstGeom prst="rect">
            <a:avLst/>
          </a:prstGeom>
        </p:spPr>
      </p:pic>
      <p:sp>
        <p:nvSpPr>
          <p:cNvPr id="10" name="Text 4"/>
          <p:cNvSpPr/>
          <p:nvPr>
            <p:ph idx="108" type="title" hasCustomPrompt="1"/>
          </p:nvPr>
        </p:nvSpPr>
        <p:spPr>
          <a:xfrm>
            <a:off x="548640" y="50292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3400" b="1" dirty="0">
                <a:solidFill>
                  <a:schemeClr val="tx1"/>
                </a:solidFill>
                <a:latin typeface="Tajawal" pitchFamily="34" charset="0"/>
                <a:ea typeface="Tajawal" pitchFamily="34" charset="-122"/>
                <a:cs typeface="Tajawal" pitchFamily="34" charset="-120"/>
              </a:defRPr>
            </a:lvl1pPr>
          </a:lstStyle>
          <a:p>
            <a:pPr algn="r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36792"/>
            <a:ext cx="667512" cy="32552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2"/>
                </a:solidFill>
                <a:latin typeface="Tajawal"/>
                <a:ea typeface="Tajawal"/>
                <a:cs typeface="Tajawal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36792"/>
            <a:ext cx="667512" cy="32552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2"/>
                </a:solidFill>
                <a:latin typeface="Tajawal"/>
                <a:ea typeface="Tajawal"/>
                <a:cs typeface="Tajaw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6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4" type="title" hasCustomPrompt="1"/>
          </p:nvPr>
        </p:nvSpPr>
        <p:spPr>
          <a:xfrm>
            <a:off x="5669280" y="2286000"/>
            <a:ext cx="597103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ar-SA" altLang="en-US" sz="5400" b="1" dirty="0">
                <a:solidFill>
                  <a:schemeClr val="bg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ممشى المروج</a:t>
            </a:r>
            <a:endParaRPr lang="ar-SA" sz="5400" dirty="0"/>
          </a:p>
          <a:p>
            <a:pPr algn="r" indent="0" marL="0">
              <a:buNone/>
            </a:pPr>
            <a:r>
              <a:rPr lang="ar-SA" altLang="en-US" sz="5400" b="1" dirty="0">
                <a:solidFill>
                  <a:schemeClr val="accent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وممشى العصان</a:t>
            </a:r>
            <a:endParaRPr lang="ar-SA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669280" y="4846320"/>
            <a:ext cx="5971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chemeClr val="accent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تصوّر فني وتشغيلي واستثماري لتحويل الممشى إلى وجهة مجتمعية مستدامة</a:t>
            </a:r>
            <a:endParaRPr lang="ar-SA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669280" y="6126480"/>
            <a:ext cx="5971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accent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عرض موجّه للأمانة</a:t>
            </a:r>
            <a:endParaRPr lang="ar-SA" sz="1400" dirty="0"/>
          </a:p>
        </p:txBody>
      </p:sp>
      <p:sp>
        <p:nvSpPr>
          <p:cNvPr id="5" name="Text 2"/>
          <p:cNvSpPr/>
          <p:nvPr>
            <p:ph idx="102" hasCustomPrompt="1"/>
          </p:nvPr>
        </p:nvSpPr>
        <p:spPr>
          <a:xfrm>
            <a:off x="0" y="0"/>
            <a:ext cx="5029200" cy="685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5029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3400" b="1" dirty="0">
                <a:solidFill>
                  <a:schemeClr val="tx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فكرة المشروع والهدف</a:t>
            </a:r>
            <a:endParaRPr lang="ar-SA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chemeClr val="tx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استلام الموقع بالكامل وتشغيله وصيانته وتطوير خدماته، لنخفّف العبء التشغيلي عن الأمانة ونحوّل الممشى إلى وجهة مجتمعية متكاملة.</a:t>
            </a:r>
            <a:endParaRPr lang="ar-SA" sz="2200" dirty="0"/>
          </a:p>
        </p:txBody>
      </p:sp>
      <p:sp>
        <p:nvSpPr>
          <p:cNvPr id="4" name="Shape 2"/>
          <p:cNvSpPr/>
          <p:nvPr/>
        </p:nvSpPr>
        <p:spPr>
          <a:xfrm>
            <a:off x="9075191" y="3017520"/>
            <a:ext cx="2567864" cy="292608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728655" y="32461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0105" y="3417570"/>
            <a:ext cx="342900" cy="342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303791" y="4114800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chemeClr val="accent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تشغيل وصيانة</a:t>
            </a:r>
            <a:endParaRPr lang="ar-SA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9303791" y="4663440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tx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استلام كامل للموقع وتطوير خدماته بشكل دائم</a:t>
            </a:r>
            <a:endParaRPr lang="ar-SA" sz="1500" dirty="0"/>
          </a:p>
        </p:txBody>
      </p:sp>
      <p:sp>
        <p:nvSpPr>
          <p:cNvPr id="9" name="Shape 6"/>
          <p:cNvSpPr/>
          <p:nvPr/>
        </p:nvSpPr>
        <p:spPr>
          <a:xfrm>
            <a:off x="6233008" y="3017520"/>
            <a:ext cx="2567864" cy="292608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886471" y="32461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7921" y="3417570"/>
            <a:ext cx="342900" cy="3429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461608" y="4114800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chemeClr val="accent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وجهة مجتمعية</a:t>
            </a:r>
            <a:endParaRPr lang="ar-SA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6461608" y="4663440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tx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تخدم سكان الحي والعائلات والرياضيين والأطفال</a:t>
            </a:r>
            <a:endParaRPr lang="ar-SA" sz="1500" dirty="0"/>
          </a:p>
        </p:txBody>
      </p:sp>
      <p:sp>
        <p:nvSpPr>
          <p:cNvPr id="14" name="Shape 10"/>
          <p:cNvSpPr/>
          <p:nvPr/>
        </p:nvSpPr>
        <p:spPr>
          <a:xfrm>
            <a:off x="3390824" y="3017520"/>
            <a:ext cx="2567864" cy="292608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044288" y="32461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5738" y="3417570"/>
            <a:ext cx="342900" cy="3429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619424" y="4114800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chemeClr val="accent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مصادر دخل متنوعة</a:t>
            </a:r>
            <a:endParaRPr lang="ar-SA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3619424" y="4663440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tx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أنشطة تجارية وخدمية تدعم الاستمرارية</a:t>
            </a:r>
            <a:endParaRPr lang="ar-SA" sz="1500" dirty="0"/>
          </a:p>
        </p:txBody>
      </p:sp>
      <p:sp>
        <p:nvSpPr>
          <p:cNvPr id="19" name="Shape 14"/>
          <p:cNvSpPr/>
          <p:nvPr/>
        </p:nvSpPr>
        <p:spPr>
          <a:xfrm>
            <a:off x="548640" y="3017520"/>
            <a:ext cx="2567864" cy="292608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202104" y="32461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3554" y="3417570"/>
            <a:ext cx="342900" cy="3429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77240" y="4114800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chemeClr val="accent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استدامة تشغيلية</a:t>
            </a:r>
            <a:endParaRPr lang="ar-SA" sz="200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4663440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tx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تخفيف الأعباء عن الأمانة وصيانة مستمرة</a:t>
            </a:r>
            <a:endParaRPr lang="ar-S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36792"/>
            <a:ext cx="667512" cy="32552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2"/>
                </a:solidFill>
                <a:latin typeface="Tajawal"/>
                <a:ea typeface="Tajawal"/>
                <a:cs typeface="Tajaw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4" type="title" hasCustomPrompt="1"/>
          </p:nvPr>
        </p:nvSpPr>
        <p:spPr>
          <a:xfrm>
            <a:off x="5669280" y="2286000"/>
            <a:ext cx="597103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chemeClr val="bg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ممشى المروج</a:t>
            </a:r>
            <a:endParaRPr lang="ar-SA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669280" y="1463040"/>
            <a:ext cx="5971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chemeClr val="accent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01</a:t>
            </a:r>
            <a:endParaRPr lang="ar-SA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669280" y="4846320"/>
            <a:ext cx="5971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chemeClr val="accent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الجزء الأول: التصوّر الكامل للمشروع</a:t>
            </a:r>
            <a:endParaRPr lang="ar-SA" sz="2200" dirty="0"/>
          </a:p>
        </p:txBody>
      </p:sp>
      <p:sp>
        <p:nvSpPr>
          <p:cNvPr id="5" name="Text 2"/>
          <p:cNvSpPr/>
          <p:nvPr>
            <p:ph idx="102" hasCustomPrompt="1"/>
          </p:nvPr>
        </p:nvSpPr>
        <p:spPr>
          <a:xfrm>
            <a:off x="0" y="0"/>
            <a:ext cx="5029200" cy="685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4" type="title" hasCustomPrompt="1"/>
          </p:nvPr>
        </p:nvSpPr>
        <p:spPr>
          <a:xfrm>
            <a:off x="548640" y="5029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3400" b="1" dirty="0">
                <a:solidFill>
                  <a:schemeClr val="tx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المخطط العام للموقع</a:t>
            </a:r>
            <a:endParaRPr lang="ar-SA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accent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توزيع العناصر ومسارات الحركة والمناطق الخضراء</a:t>
            </a:r>
            <a:endParaRPr lang="ar-SA" sz="1800" dirty="0"/>
          </a:p>
        </p:txBody>
      </p:sp>
      <p:sp>
        <p:nvSpPr>
          <p:cNvPr id="4" name="Shape 2"/>
          <p:cNvSpPr/>
          <p:nvPr/>
        </p:nvSpPr>
        <p:spPr>
          <a:xfrm>
            <a:off x="11247120" y="1783080"/>
            <a:ext cx="393192" cy="3931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47120" y="1783080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chemeClr val="bg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ar-SA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1783080"/>
            <a:ext cx="2651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أكشاك الخدمات (10 أكشاك)</a:t>
            </a:r>
            <a:endParaRPr lang="ar-SA" sz="1600" dirty="0"/>
          </a:p>
        </p:txBody>
      </p:sp>
      <p:sp>
        <p:nvSpPr>
          <p:cNvPr id="7" name="Shape 5"/>
          <p:cNvSpPr/>
          <p:nvPr/>
        </p:nvSpPr>
        <p:spPr>
          <a:xfrm>
            <a:off x="11247120" y="2404872"/>
            <a:ext cx="393192" cy="3931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247120" y="2404872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chemeClr val="bg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ar-SA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503920" y="2404872"/>
            <a:ext cx="2651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كوفي هاوس بطابع الحارة</a:t>
            </a:r>
            <a:endParaRPr lang="ar-SA" sz="1600" dirty="0"/>
          </a:p>
        </p:txBody>
      </p:sp>
      <p:sp>
        <p:nvSpPr>
          <p:cNvPr id="10" name="Shape 8"/>
          <p:cNvSpPr/>
          <p:nvPr/>
        </p:nvSpPr>
        <p:spPr>
          <a:xfrm>
            <a:off x="11247120" y="3026664"/>
            <a:ext cx="393192" cy="3931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247120" y="3026664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chemeClr val="bg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ar-SA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503920" y="3026664"/>
            <a:ext cx="2651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الأكل الصحي والمشروبات</a:t>
            </a:r>
            <a:endParaRPr lang="ar-SA" sz="1600" dirty="0"/>
          </a:p>
        </p:txBody>
      </p:sp>
      <p:sp>
        <p:nvSpPr>
          <p:cNvPr id="13" name="Shape 11"/>
          <p:cNvSpPr/>
          <p:nvPr/>
        </p:nvSpPr>
        <p:spPr>
          <a:xfrm>
            <a:off x="11247120" y="3648456"/>
            <a:ext cx="393192" cy="3931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247120" y="3648456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chemeClr val="bg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ar-SA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3648456"/>
            <a:ext cx="2651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النادي الرياضي الذكي 24/7</a:t>
            </a:r>
            <a:endParaRPr lang="ar-SA" sz="1600" dirty="0"/>
          </a:p>
        </p:txBody>
      </p:sp>
      <p:sp>
        <p:nvSpPr>
          <p:cNvPr id="16" name="Shape 14"/>
          <p:cNvSpPr/>
          <p:nvPr/>
        </p:nvSpPr>
        <p:spPr>
          <a:xfrm>
            <a:off x="11247120" y="4270248"/>
            <a:ext cx="393192" cy="3931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247120" y="4270248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chemeClr val="bg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ar-SA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4270248"/>
            <a:ext cx="2651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منطقة الأطفال</a:t>
            </a:r>
            <a:endParaRPr lang="ar-SA" sz="1600" dirty="0"/>
          </a:p>
        </p:txBody>
      </p:sp>
      <p:sp>
        <p:nvSpPr>
          <p:cNvPr id="19" name="Shape 17"/>
          <p:cNvSpPr/>
          <p:nvPr/>
        </p:nvSpPr>
        <p:spPr>
          <a:xfrm>
            <a:off x="11247120" y="4892040"/>
            <a:ext cx="393192" cy="3931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1247120" y="4892040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chemeClr val="bg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ar-SA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503920" y="4892040"/>
            <a:ext cx="2651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الساحة متعددة الفعاليات</a:t>
            </a:r>
            <a:endParaRPr lang="ar-SA" sz="1600" dirty="0"/>
          </a:p>
        </p:txBody>
      </p:sp>
      <p:sp>
        <p:nvSpPr>
          <p:cNvPr id="22" name="Shape 20"/>
          <p:cNvSpPr/>
          <p:nvPr/>
        </p:nvSpPr>
        <p:spPr>
          <a:xfrm>
            <a:off x="11247120" y="5513832"/>
            <a:ext cx="393192" cy="3931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1247120" y="5513832"/>
            <a:ext cx="393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chemeClr val="bg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ar-SA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8503920" y="5513832"/>
            <a:ext cx="2651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الدراجات والسكوترات</a:t>
            </a:r>
            <a:endParaRPr lang="ar-SA" sz="1600" dirty="0"/>
          </a:p>
        </p:txBody>
      </p:sp>
      <p:sp>
        <p:nvSpPr>
          <p:cNvPr id="25" name="Text 2"/>
          <p:cNvSpPr/>
          <p:nvPr>
            <p:ph idx="102" hasCustomPrompt="1"/>
          </p:nvPr>
        </p:nvSpPr>
        <p:spPr>
          <a:xfrm>
            <a:off x="548640" y="1691640"/>
            <a:ext cx="7680960" cy="434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36792"/>
            <a:ext cx="667512" cy="32552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2"/>
                </a:solidFill>
                <a:latin typeface="Tajawal"/>
                <a:ea typeface="Tajawal"/>
                <a:cs typeface="Tajaw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852160" y="457200"/>
            <a:ext cx="5788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chemeClr val="accent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العنصر 1 من 7</a:t>
            </a:r>
            <a:endParaRPr lang="ar-SA" sz="14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852160" y="868680"/>
            <a:ext cx="5788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3400" b="1" dirty="0">
                <a:solidFill>
                  <a:schemeClr val="tx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أكشاك الخدمات</a:t>
            </a:r>
            <a:endParaRPr lang="ar-SA" sz="3400" dirty="0"/>
          </a:p>
        </p:txBody>
      </p:sp>
      <p:sp>
        <p:nvSpPr>
          <p:cNvPr id="4" name="Shape 2"/>
          <p:cNvSpPr/>
          <p:nvPr/>
        </p:nvSpPr>
        <p:spPr>
          <a:xfrm>
            <a:off x="11384280" y="2057400"/>
            <a:ext cx="164592" cy="1645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852160" y="1965960"/>
            <a:ext cx="534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tx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10 أكشاك موزّعة بشكل مدروس يناسب طبيعة الممشى والمساحات الخضراء</a:t>
            </a:r>
            <a:endParaRPr lang="ar-SA" sz="1800" dirty="0"/>
          </a:p>
        </p:txBody>
      </p:sp>
      <p:sp>
        <p:nvSpPr>
          <p:cNvPr id="6" name="Shape 4"/>
          <p:cNvSpPr/>
          <p:nvPr/>
        </p:nvSpPr>
        <p:spPr>
          <a:xfrm>
            <a:off x="11384280" y="3017520"/>
            <a:ext cx="164592" cy="1645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0" y="2926080"/>
            <a:ext cx="534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tx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أغذية صحية ومشروبات ووجبات خفيفة واحتياجات يومية لمرتادي الممشى</a:t>
            </a:r>
            <a:endParaRPr lang="ar-SA" sz="1800" dirty="0"/>
          </a:p>
        </p:txBody>
      </p:sp>
      <p:sp>
        <p:nvSpPr>
          <p:cNvPr id="8" name="Shape 6"/>
          <p:cNvSpPr/>
          <p:nvPr/>
        </p:nvSpPr>
        <p:spPr>
          <a:xfrm>
            <a:off x="11384280" y="3977640"/>
            <a:ext cx="164592" cy="1645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52160" y="3886200"/>
            <a:ext cx="534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tx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دون أنشطة عشوائية أو وجبات ثقيلة، حفاظاً على هوية الموقع</a:t>
            </a:r>
            <a:endParaRPr lang="ar-SA" sz="1800" dirty="0"/>
          </a:p>
        </p:txBody>
      </p:sp>
      <p:sp>
        <p:nvSpPr>
          <p:cNvPr id="10" name="Shape 8"/>
          <p:cNvSpPr/>
          <p:nvPr/>
        </p:nvSpPr>
        <p:spPr>
          <a:xfrm>
            <a:off x="11384280" y="4937760"/>
            <a:ext cx="164592" cy="1645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52160" y="4846320"/>
            <a:ext cx="534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tx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تصميم متناسق يندمج مع البيئة المحيطة</a:t>
            </a:r>
            <a:endParaRPr lang="ar-SA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4709160"/>
            <a:ext cx="4937760" cy="12344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29000" y="4846320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b="1" dirty="0">
                <a:solidFill>
                  <a:schemeClr val="bg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10</a:t>
            </a:r>
            <a:endParaRPr lang="ar-SA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84632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accent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أكشاك موزّعة بعناية</a:t>
            </a:r>
            <a:endParaRPr lang="ar-SA" sz="1500" dirty="0"/>
          </a:p>
        </p:txBody>
      </p:sp>
      <p:sp>
        <p:nvSpPr>
          <p:cNvPr id="15" name="Text 2"/>
          <p:cNvSpPr/>
          <p:nvPr>
            <p:ph idx="102" hasCustomPrompt="1"/>
          </p:nvPr>
        </p:nvSpPr>
        <p:spPr>
          <a:xfrm>
            <a:off x="548640" y="548640"/>
            <a:ext cx="493776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36792"/>
            <a:ext cx="667512" cy="32552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2"/>
                </a:solidFill>
                <a:latin typeface="Tajawal"/>
                <a:ea typeface="Tajawal"/>
                <a:cs typeface="Tajaw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852160" y="457200"/>
            <a:ext cx="5788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chemeClr val="accent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العنصر 2 من 7</a:t>
            </a:r>
            <a:endParaRPr lang="ar-SA" sz="14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852160" y="868680"/>
            <a:ext cx="5788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3400" b="1" dirty="0">
                <a:solidFill>
                  <a:schemeClr val="tx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كوفي هاوس بطابع الحارة</a:t>
            </a:r>
            <a:endParaRPr lang="ar-SA" sz="3400" dirty="0"/>
          </a:p>
        </p:txBody>
      </p:sp>
      <p:sp>
        <p:nvSpPr>
          <p:cNvPr id="4" name="Shape 2"/>
          <p:cNvSpPr/>
          <p:nvPr/>
        </p:nvSpPr>
        <p:spPr>
          <a:xfrm>
            <a:off x="11384280" y="2057400"/>
            <a:ext cx="164592" cy="1645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852160" y="1965960"/>
            <a:ext cx="534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tx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مقهى رئيسي بطابع محلي دافئ مستوحى من أجواء الحارة والجلسات المجتمعية</a:t>
            </a:r>
            <a:endParaRPr lang="ar-SA" sz="1800" dirty="0"/>
          </a:p>
        </p:txBody>
      </p:sp>
      <p:sp>
        <p:nvSpPr>
          <p:cNvPr id="6" name="Shape 4"/>
          <p:cNvSpPr/>
          <p:nvPr/>
        </p:nvSpPr>
        <p:spPr>
          <a:xfrm>
            <a:off x="11384280" y="3017520"/>
            <a:ext cx="164592" cy="1645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0" y="2926080"/>
            <a:ext cx="534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tx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مناسب للعائلات ومرتادي الممشى</a:t>
            </a:r>
            <a:endParaRPr lang="ar-SA" sz="1800" dirty="0"/>
          </a:p>
        </p:txBody>
      </p:sp>
      <p:sp>
        <p:nvSpPr>
          <p:cNvPr id="8" name="Shape 6"/>
          <p:cNvSpPr/>
          <p:nvPr/>
        </p:nvSpPr>
        <p:spPr>
          <a:xfrm>
            <a:off x="11384280" y="3977640"/>
            <a:ext cx="164592" cy="1645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52160" y="3886200"/>
            <a:ext cx="534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tx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جلسات داخلية وخارجية حسب طبيعة الموقع</a:t>
            </a:r>
            <a:endParaRPr lang="ar-SA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4709160"/>
            <a:ext cx="4937760" cy="12344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4846320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chemeClr val="bg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الحارة</a:t>
            </a:r>
            <a:endParaRPr lang="ar-SA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84632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accent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طابع محلي دافئ</a:t>
            </a:r>
            <a:endParaRPr lang="ar-SA" sz="1500" dirty="0"/>
          </a:p>
        </p:txBody>
      </p:sp>
      <p:sp>
        <p:nvSpPr>
          <p:cNvPr id="13" name="Text 2"/>
          <p:cNvSpPr/>
          <p:nvPr>
            <p:ph idx="102" hasCustomPrompt="1"/>
          </p:nvPr>
        </p:nvSpPr>
        <p:spPr>
          <a:xfrm>
            <a:off x="548640" y="548640"/>
            <a:ext cx="493776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36792"/>
            <a:ext cx="667512" cy="32552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2"/>
                </a:solidFill>
                <a:latin typeface="Tajawal"/>
                <a:ea typeface="Tajawal"/>
                <a:cs typeface="Tajaw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852160" y="457200"/>
            <a:ext cx="5788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chemeClr val="accent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العنصر 3 من 7</a:t>
            </a:r>
            <a:endParaRPr lang="ar-SA" sz="14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852160" y="868680"/>
            <a:ext cx="5788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3400" b="1" dirty="0">
                <a:solidFill>
                  <a:schemeClr val="tx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الأكل الصحي والمشروبات</a:t>
            </a:r>
            <a:endParaRPr lang="ar-SA" sz="3400" dirty="0"/>
          </a:p>
        </p:txBody>
      </p:sp>
      <p:sp>
        <p:nvSpPr>
          <p:cNvPr id="4" name="Shape 2"/>
          <p:cNvSpPr/>
          <p:nvPr/>
        </p:nvSpPr>
        <p:spPr>
          <a:xfrm>
            <a:off x="11384280" y="2057400"/>
            <a:ext cx="164592" cy="1645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852160" y="1965960"/>
            <a:ext cx="534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tx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منطقة مخصصة لمقهى إضافي أو مطعم صحي</a:t>
            </a:r>
            <a:endParaRPr lang="ar-SA" sz="1800" dirty="0"/>
          </a:p>
        </p:txBody>
      </p:sp>
      <p:sp>
        <p:nvSpPr>
          <p:cNvPr id="6" name="Shape 4"/>
          <p:cNvSpPr/>
          <p:nvPr/>
        </p:nvSpPr>
        <p:spPr>
          <a:xfrm>
            <a:off x="11384280" y="3017520"/>
            <a:ext cx="164592" cy="1645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0" y="2926080"/>
            <a:ext cx="534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tx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تركيز على الخيارات الصحية والسريعة</a:t>
            </a:r>
            <a:endParaRPr lang="ar-SA" sz="1800" dirty="0"/>
          </a:p>
        </p:txBody>
      </p:sp>
      <p:sp>
        <p:nvSpPr>
          <p:cNvPr id="8" name="Shape 6"/>
          <p:cNvSpPr/>
          <p:nvPr/>
        </p:nvSpPr>
        <p:spPr>
          <a:xfrm>
            <a:off x="11384280" y="3977640"/>
            <a:ext cx="164592" cy="1645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52160" y="3886200"/>
            <a:ext cx="534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tx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تناسب نمط الحياة الرياضي والعائلي</a:t>
            </a:r>
            <a:endParaRPr lang="ar-SA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4709160"/>
            <a:ext cx="4937760" cy="12344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4846320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b="1" dirty="0">
                <a:solidFill>
                  <a:schemeClr val="bg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صحي</a:t>
            </a:r>
            <a:endParaRPr lang="ar-SA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84632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accent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وسريع يناسب نمط الحياة النشط</a:t>
            </a:r>
            <a:endParaRPr lang="ar-SA" sz="1500" dirty="0"/>
          </a:p>
        </p:txBody>
      </p:sp>
      <p:sp>
        <p:nvSpPr>
          <p:cNvPr id="13" name="Text 2"/>
          <p:cNvSpPr/>
          <p:nvPr>
            <p:ph idx="102" hasCustomPrompt="1"/>
          </p:nvPr>
        </p:nvSpPr>
        <p:spPr>
          <a:xfrm>
            <a:off x="548640" y="548640"/>
            <a:ext cx="493776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36792"/>
            <a:ext cx="667512" cy="32552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2"/>
                </a:solidFill>
                <a:latin typeface="Tajawal"/>
                <a:ea typeface="Tajawal"/>
                <a:cs typeface="Tajaw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852160" y="457200"/>
            <a:ext cx="5788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chemeClr val="accent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العنصر 4 من 7</a:t>
            </a:r>
            <a:endParaRPr lang="ar-SA" sz="14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852160" y="868680"/>
            <a:ext cx="5788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3400" b="1" dirty="0">
                <a:solidFill>
                  <a:schemeClr val="tx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نادٍ رياضي ذكي</a:t>
            </a:r>
            <a:endParaRPr lang="ar-SA" sz="3400" dirty="0"/>
          </a:p>
        </p:txBody>
      </p:sp>
      <p:sp>
        <p:nvSpPr>
          <p:cNvPr id="4" name="Shape 2"/>
          <p:cNvSpPr/>
          <p:nvPr/>
        </p:nvSpPr>
        <p:spPr>
          <a:xfrm>
            <a:off x="11384280" y="2057400"/>
            <a:ext cx="164592" cy="1645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852160" y="1965960"/>
            <a:ext cx="534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tx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مساحة للكروس فيت والتمارين الجماعية والكلاسات الرياضية</a:t>
            </a:r>
            <a:endParaRPr lang="ar-SA" sz="1800" dirty="0"/>
          </a:p>
        </p:txBody>
      </p:sp>
      <p:sp>
        <p:nvSpPr>
          <p:cNvPr id="6" name="Shape 4"/>
          <p:cNvSpPr/>
          <p:nvPr/>
        </p:nvSpPr>
        <p:spPr>
          <a:xfrm>
            <a:off x="11384280" y="3017520"/>
            <a:ext cx="164592" cy="1645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0" y="2926080"/>
            <a:ext cx="534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tx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تجهيزات متكاملة للرجال والنساء مع مراعاة الخصوصية</a:t>
            </a:r>
            <a:endParaRPr lang="ar-SA" sz="1800" dirty="0"/>
          </a:p>
        </p:txBody>
      </p:sp>
      <p:sp>
        <p:nvSpPr>
          <p:cNvPr id="8" name="Shape 6"/>
          <p:cNvSpPr/>
          <p:nvPr/>
        </p:nvSpPr>
        <p:spPr>
          <a:xfrm>
            <a:off x="11384280" y="3977640"/>
            <a:ext cx="164592" cy="1645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52160" y="3886200"/>
            <a:ext cx="534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tx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اشتراكات شهرية بأسعار مدروسة لسكان الأحياء القريبة</a:t>
            </a:r>
            <a:endParaRPr lang="ar-SA" sz="1800" dirty="0"/>
          </a:p>
        </p:txBody>
      </p:sp>
      <p:sp>
        <p:nvSpPr>
          <p:cNvPr id="10" name="Shape 8"/>
          <p:cNvSpPr/>
          <p:nvPr/>
        </p:nvSpPr>
        <p:spPr>
          <a:xfrm>
            <a:off x="11384280" y="4937760"/>
            <a:ext cx="164592" cy="1645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52160" y="4846320"/>
            <a:ext cx="534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tx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نظام دخول ذكي بالذكاء الاصطناعي والأتمتة للتحكم في الدخول والإغلاق</a:t>
            </a:r>
            <a:endParaRPr lang="ar-SA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4709160"/>
            <a:ext cx="4937760" cy="12344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29000" y="4846320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b="1" dirty="0">
                <a:solidFill>
                  <a:schemeClr val="bg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24/7</a:t>
            </a:r>
            <a:endParaRPr lang="ar-SA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84632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accent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تشغيل متواصل بنظام دخول ذكي</a:t>
            </a:r>
            <a:endParaRPr lang="ar-SA" sz="1500" dirty="0"/>
          </a:p>
        </p:txBody>
      </p:sp>
      <p:sp>
        <p:nvSpPr>
          <p:cNvPr id="15" name="Text 2"/>
          <p:cNvSpPr/>
          <p:nvPr>
            <p:ph idx="102" hasCustomPrompt="1"/>
          </p:nvPr>
        </p:nvSpPr>
        <p:spPr>
          <a:xfrm>
            <a:off x="548640" y="548640"/>
            <a:ext cx="493776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36792"/>
            <a:ext cx="667512" cy="32552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2"/>
                </a:solidFill>
                <a:latin typeface="Tajawal"/>
                <a:ea typeface="Tajawal"/>
                <a:cs typeface="Tajaw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852160" y="457200"/>
            <a:ext cx="5788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chemeClr val="accent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العنصر 5 من 7</a:t>
            </a:r>
            <a:endParaRPr lang="ar-SA" sz="14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852160" y="868680"/>
            <a:ext cx="5788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3400" b="1" dirty="0">
                <a:solidFill>
                  <a:schemeClr val="tx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منطقة متكاملة للأطفال</a:t>
            </a:r>
            <a:endParaRPr lang="ar-SA" sz="3400" dirty="0"/>
          </a:p>
        </p:txBody>
      </p:sp>
      <p:sp>
        <p:nvSpPr>
          <p:cNvPr id="4" name="Shape 2"/>
          <p:cNvSpPr/>
          <p:nvPr/>
        </p:nvSpPr>
        <p:spPr>
          <a:xfrm>
            <a:off x="11384280" y="2057400"/>
            <a:ext cx="164592" cy="1645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852160" y="1965960"/>
            <a:ext cx="534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tx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ورش فنية وأنشطة تفاعلية وتجارب تعليمية وترفيهية</a:t>
            </a:r>
            <a:endParaRPr lang="ar-SA" sz="1800" dirty="0"/>
          </a:p>
        </p:txBody>
      </p:sp>
      <p:sp>
        <p:nvSpPr>
          <p:cNvPr id="6" name="Shape 4"/>
          <p:cNvSpPr/>
          <p:nvPr/>
        </p:nvSpPr>
        <p:spPr>
          <a:xfrm>
            <a:off x="11384280" y="3017520"/>
            <a:ext cx="164592" cy="1645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0" y="2926080"/>
            <a:ext cx="534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tx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إمكانية تطويرها إلى أكاديمية للأطفال ببرامج متعددة</a:t>
            </a:r>
            <a:endParaRPr lang="ar-SA" sz="1800" dirty="0"/>
          </a:p>
        </p:txBody>
      </p:sp>
      <p:sp>
        <p:nvSpPr>
          <p:cNvPr id="8" name="Shape 6"/>
          <p:cNvSpPr/>
          <p:nvPr/>
        </p:nvSpPr>
        <p:spPr>
          <a:xfrm>
            <a:off x="11384280" y="3977640"/>
            <a:ext cx="164592" cy="1645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52160" y="3886200"/>
            <a:ext cx="534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tx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يمارس الوالدان الرياضة أو يستمتعان بالممشى وأطفالهم في بيئة مخصصة</a:t>
            </a:r>
            <a:endParaRPr lang="ar-SA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4709160"/>
            <a:ext cx="4937760" cy="12344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4846320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b="1" dirty="0">
                <a:solidFill>
                  <a:schemeClr val="bg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آمنة</a:t>
            </a:r>
            <a:endParaRPr lang="ar-SA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84632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accent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تحت إشراف ومراقبة مختصين</a:t>
            </a:r>
            <a:endParaRPr lang="ar-SA" sz="1500" dirty="0"/>
          </a:p>
        </p:txBody>
      </p:sp>
      <p:sp>
        <p:nvSpPr>
          <p:cNvPr id="13" name="Text 2"/>
          <p:cNvSpPr/>
          <p:nvPr>
            <p:ph idx="102" hasCustomPrompt="1"/>
          </p:nvPr>
        </p:nvSpPr>
        <p:spPr>
          <a:xfrm>
            <a:off x="548640" y="548640"/>
            <a:ext cx="493776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36792"/>
            <a:ext cx="667512" cy="32552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2"/>
                </a:solidFill>
                <a:latin typeface="Tajawal"/>
                <a:ea typeface="Tajawal"/>
                <a:cs typeface="Tajaw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852160" y="457200"/>
            <a:ext cx="5788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chemeClr val="accent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العنصر 6 من 7</a:t>
            </a:r>
            <a:endParaRPr lang="ar-SA" sz="14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852160" y="868680"/>
            <a:ext cx="5788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3400" b="1" dirty="0">
                <a:solidFill>
                  <a:schemeClr val="tx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ساحة الفعاليات المتعددة</a:t>
            </a:r>
            <a:endParaRPr lang="ar-SA" sz="3400" dirty="0"/>
          </a:p>
        </p:txBody>
      </p:sp>
      <p:sp>
        <p:nvSpPr>
          <p:cNvPr id="4" name="Shape 2"/>
          <p:cNvSpPr/>
          <p:nvPr/>
        </p:nvSpPr>
        <p:spPr>
          <a:xfrm>
            <a:off x="11384280" y="2057400"/>
            <a:ext cx="164592" cy="1645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852160" y="1965960"/>
            <a:ext cx="534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tx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مساحة مرنة للفعاليات المجتمعية والمناسبات الوطنية والموسمية</a:t>
            </a:r>
            <a:endParaRPr lang="ar-SA" sz="1800" dirty="0"/>
          </a:p>
        </p:txBody>
      </p:sp>
      <p:sp>
        <p:nvSpPr>
          <p:cNvPr id="6" name="Shape 4"/>
          <p:cNvSpPr/>
          <p:nvPr/>
        </p:nvSpPr>
        <p:spPr>
          <a:xfrm>
            <a:off x="11384280" y="3017520"/>
            <a:ext cx="164592" cy="1645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0" y="2926080"/>
            <a:ext cx="534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tx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تفعيل يوم التأسيس واليوم الوطني وشهر رمضان والمناسبات المحلية</a:t>
            </a:r>
            <a:endParaRPr lang="ar-SA" sz="1800" dirty="0"/>
          </a:p>
        </p:txBody>
      </p:sp>
      <p:sp>
        <p:nvSpPr>
          <p:cNvPr id="8" name="Shape 6"/>
          <p:cNvSpPr/>
          <p:nvPr/>
        </p:nvSpPr>
        <p:spPr>
          <a:xfrm>
            <a:off x="11384280" y="3977640"/>
            <a:ext cx="164592" cy="1645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52160" y="3886200"/>
            <a:ext cx="534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tx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ورش وأنشطة وبرامج لسكان الحي على مدار العام</a:t>
            </a:r>
            <a:endParaRPr lang="ar-SA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4709160"/>
            <a:ext cx="4937760" cy="12344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4846320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chemeClr val="bg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طوال العام</a:t>
            </a:r>
            <a:endParaRPr lang="ar-SA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84632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accent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فعاليات ومناسبات وبرامج للحي</a:t>
            </a:r>
            <a:endParaRPr lang="ar-SA" sz="1500" dirty="0"/>
          </a:p>
        </p:txBody>
      </p:sp>
      <p:sp>
        <p:nvSpPr>
          <p:cNvPr id="13" name="Text 2"/>
          <p:cNvSpPr/>
          <p:nvPr>
            <p:ph idx="102" hasCustomPrompt="1"/>
          </p:nvPr>
        </p:nvSpPr>
        <p:spPr>
          <a:xfrm>
            <a:off x="548640" y="548640"/>
            <a:ext cx="493776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36792"/>
            <a:ext cx="667512" cy="32552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2"/>
                </a:solidFill>
                <a:latin typeface="Tajawal"/>
                <a:ea typeface="Tajawal"/>
                <a:cs typeface="Tajaw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852160" y="457200"/>
            <a:ext cx="5788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chemeClr val="accent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العنصر 7 من 7</a:t>
            </a:r>
            <a:endParaRPr lang="ar-SA" sz="14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852160" y="868680"/>
            <a:ext cx="5788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3400" b="1" dirty="0">
                <a:solidFill>
                  <a:schemeClr val="tx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الدراجات والسكوترات والترفيه</a:t>
            </a:r>
            <a:endParaRPr lang="ar-SA" sz="3400" dirty="0"/>
          </a:p>
        </p:txBody>
      </p:sp>
      <p:sp>
        <p:nvSpPr>
          <p:cNvPr id="4" name="Shape 2"/>
          <p:cNvSpPr/>
          <p:nvPr/>
        </p:nvSpPr>
        <p:spPr>
          <a:xfrm>
            <a:off x="11384280" y="2057400"/>
            <a:ext cx="164592" cy="1645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852160" y="1965960"/>
            <a:ext cx="534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tx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منطقة لتأجير الدراجات والسكوترات والأنشطة الترفيهية المناسبة للموقع</a:t>
            </a:r>
            <a:endParaRPr lang="ar-SA" sz="1800" dirty="0"/>
          </a:p>
        </p:txBody>
      </p:sp>
      <p:sp>
        <p:nvSpPr>
          <p:cNvPr id="6" name="Shape 4"/>
          <p:cNvSpPr/>
          <p:nvPr/>
        </p:nvSpPr>
        <p:spPr>
          <a:xfrm>
            <a:off x="11384280" y="3017520"/>
            <a:ext cx="164592" cy="1645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0" y="2926080"/>
            <a:ext cx="534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tx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ربط مباشر بمسارات المشي والمساحات المفتوحة</a:t>
            </a:r>
            <a:endParaRPr lang="ar-SA" sz="1800" dirty="0"/>
          </a:p>
        </p:txBody>
      </p:sp>
      <p:sp>
        <p:nvSpPr>
          <p:cNvPr id="8" name="Shape 6"/>
          <p:cNvSpPr/>
          <p:nvPr/>
        </p:nvSpPr>
        <p:spPr>
          <a:xfrm>
            <a:off x="11384280" y="3977640"/>
            <a:ext cx="164592" cy="1645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52160" y="3886200"/>
            <a:ext cx="534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tx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مراعاة السلامة وسهولة الاستخدام</a:t>
            </a:r>
            <a:endParaRPr lang="ar-SA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4709160"/>
            <a:ext cx="4937760" cy="12344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4846320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b="1" dirty="0">
                <a:solidFill>
                  <a:schemeClr val="bg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حركة</a:t>
            </a:r>
            <a:endParaRPr lang="ar-SA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84632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accent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مرتبطة بمسارات المشي</a:t>
            </a:r>
            <a:endParaRPr lang="ar-SA" sz="1500" dirty="0"/>
          </a:p>
        </p:txBody>
      </p:sp>
      <p:sp>
        <p:nvSpPr>
          <p:cNvPr id="13" name="Text 2"/>
          <p:cNvSpPr/>
          <p:nvPr>
            <p:ph idx="102" hasCustomPrompt="1"/>
          </p:nvPr>
        </p:nvSpPr>
        <p:spPr>
          <a:xfrm>
            <a:off x="548640" y="548640"/>
            <a:ext cx="493776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36792"/>
            <a:ext cx="667512" cy="32552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2"/>
                </a:solidFill>
                <a:latin typeface="Tajawal"/>
                <a:ea typeface="Tajawal"/>
                <a:cs typeface="Tajaw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852160" y="457200"/>
            <a:ext cx="5788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chemeClr val="accent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التكامل مع الموقع</a:t>
            </a:r>
            <a:endParaRPr lang="ar-SA" sz="14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852160" y="868680"/>
            <a:ext cx="5788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3400" b="1" dirty="0">
                <a:solidFill>
                  <a:schemeClr val="tx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أنشطة متكاملة مع الموقع</a:t>
            </a:r>
            <a:endParaRPr lang="ar-SA" sz="3400" dirty="0"/>
          </a:p>
        </p:txBody>
      </p:sp>
      <p:sp>
        <p:nvSpPr>
          <p:cNvPr id="4" name="Shape 2"/>
          <p:cNvSpPr/>
          <p:nvPr/>
        </p:nvSpPr>
        <p:spPr>
          <a:xfrm>
            <a:off x="11000232" y="19202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0252" y="208026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852160" y="192024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chemeClr val="accent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عائلي</a:t>
            </a:r>
            <a:endParaRPr lang="ar-SA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852160" y="2286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tx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مساحات آمنة وأجواء تناسب جميع أفراد الأسرة</a:t>
            </a:r>
            <a:endParaRPr lang="ar-SA" sz="1500" dirty="0"/>
          </a:p>
        </p:txBody>
      </p:sp>
      <p:sp>
        <p:nvSpPr>
          <p:cNvPr id="8" name="Shape 5"/>
          <p:cNvSpPr/>
          <p:nvPr/>
        </p:nvSpPr>
        <p:spPr>
          <a:xfrm>
            <a:off x="11000232" y="29260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0252" y="308610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852160" y="292608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chemeClr val="accent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مجتمعي</a:t>
            </a:r>
            <a:endParaRPr lang="ar-SA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5852160" y="3291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tx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فعاليات ومناسبات تجمع سكان الحي</a:t>
            </a:r>
            <a:endParaRPr lang="ar-SA" sz="1500" dirty="0"/>
          </a:p>
        </p:txBody>
      </p:sp>
      <p:sp>
        <p:nvSpPr>
          <p:cNvPr id="12" name="Shape 8"/>
          <p:cNvSpPr/>
          <p:nvPr/>
        </p:nvSpPr>
        <p:spPr>
          <a:xfrm>
            <a:off x="11000232" y="39319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0252" y="409194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852160" y="393192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chemeClr val="accent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رياضي</a:t>
            </a:r>
            <a:endParaRPr lang="ar-SA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5852160" y="4297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tx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ممشى ونادٍ ومسارات للدراجات والسكوترات</a:t>
            </a:r>
            <a:endParaRPr lang="ar-SA" sz="1500" dirty="0"/>
          </a:p>
        </p:txBody>
      </p:sp>
      <p:sp>
        <p:nvSpPr>
          <p:cNvPr id="16" name="Shape 11"/>
          <p:cNvSpPr/>
          <p:nvPr/>
        </p:nvSpPr>
        <p:spPr>
          <a:xfrm>
            <a:off x="11000232" y="4937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0252" y="509778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852160" y="493776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chemeClr val="accent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صحي</a:t>
            </a:r>
            <a:endParaRPr lang="ar-SA" sz="2000" dirty="0"/>
          </a:p>
        </p:txBody>
      </p:sp>
      <p:sp>
        <p:nvSpPr>
          <p:cNvPr id="19" name="Text 13"/>
          <p:cNvSpPr txBox="1"/>
          <p:nvPr/>
        </p:nvSpPr>
        <p:spPr>
          <a:xfrm>
            <a:off x="5852160" y="5303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tx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أغذية ومشروبات صحية وأسلوب حياة نشط</a:t>
            </a:r>
            <a:endParaRPr lang="ar-SA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5852160" y="5897880"/>
            <a:ext cx="5788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chemeClr val="accent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دون الإضرار بطبيعة الموقع</a:t>
            </a:r>
            <a:endParaRPr lang="ar-SA" sz="1400" dirty="0"/>
          </a:p>
        </p:txBody>
      </p:sp>
      <p:sp>
        <p:nvSpPr>
          <p:cNvPr id="21" name="Text 2"/>
          <p:cNvSpPr/>
          <p:nvPr>
            <p:ph idx="102" hasCustomPrompt="1"/>
          </p:nvPr>
        </p:nvSpPr>
        <p:spPr>
          <a:xfrm>
            <a:off x="548640" y="548640"/>
            <a:ext cx="4937760" cy="5394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36792"/>
            <a:ext cx="667512" cy="32552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2"/>
                </a:solidFill>
                <a:latin typeface="Tajawal"/>
                <a:ea typeface="Tajawal"/>
                <a:cs typeface="Tajaw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5029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3400" b="1" dirty="0">
                <a:solidFill>
                  <a:schemeClr val="tx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مصادر الدخل</a:t>
            </a:r>
            <a:endParaRPr lang="ar-SA" sz="3400" dirty="0"/>
          </a:p>
        </p:txBody>
      </p:sp>
      <p:sp>
        <p:nvSpPr>
          <p:cNvPr id="3" name="Shape 1"/>
          <p:cNvSpPr/>
          <p:nvPr/>
        </p:nvSpPr>
        <p:spPr>
          <a:xfrm>
            <a:off x="8127797" y="1691640"/>
            <a:ext cx="3515258" cy="19202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774375" y="19202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4395" y="208026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356397" y="269748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chemeClr val="tx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الأكشاك</a:t>
            </a:r>
            <a:endParaRPr lang="ar-SA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356397" y="310896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accent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10 أكشاك خدمية</a:t>
            </a:r>
            <a:endParaRPr lang="ar-SA" sz="1500" dirty="0"/>
          </a:p>
        </p:txBody>
      </p:sp>
      <p:sp>
        <p:nvSpPr>
          <p:cNvPr id="8" name="Shape 5"/>
          <p:cNvSpPr/>
          <p:nvPr/>
        </p:nvSpPr>
        <p:spPr>
          <a:xfrm>
            <a:off x="4338218" y="1691640"/>
            <a:ext cx="3515258" cy="19202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984797" y="192024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4817" y="208026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66818" y="269748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chemeClr val="tx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المقاهي</a:t>
            </a:r>
            <a:endParaRPr lang="ar-SA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566818" y="310896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accent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كوفي هاوس ومطعم صحي</a:t>
            </a:r>
            <a:endParaRPr lang="ar-SA" sz="1500" dirty="0"/>
          </a:p>
        </p:txBody>
      </p:sp>
      <p:sp>
        <p:nvSpPr>
          <p:cNvPr id="13" name="Shape 9"/>
          <p:cNvSpPr/>
          <p:nvPr/>
        </p:nvSpPr>
        <p:spPr>
          <a:xfrm>
            <a:off x="548640" y="1691640"/>
            <a:ext cx="3515258" cy="19202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195218" y="19202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5238" y="208026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77240" y="269748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chemeClr val="tx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النادي الرياضي</a:t>
            </a:r>
            <a:endParaRPr lang="ar-SA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777240" y="310896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accent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اشتراكات شهرية</a:t>
            </a:r>
            <a:endParaRPr lang="ar-SA" sz="1500" dirty="0"/>
          </a:p>
        </p:txBody>
      </p:sp>
      <p:sp>
        <p:nvSpPr>
          <p:cNvPr id="18" name="Shape 13"/>
          <p:cNvSpPr/>
          <p:nvPr/>
        </p:nvSpPr>
        <p:spPr>
          <a:xfrm>
            <a:off x="8127797" y="3886200"/>
            <a:ext cx="3515258" cy="19202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10774375" y="411480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4395" y="427482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356397" y="489204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chemeClr val="tx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منطقة الأطفال</a:t>
            </a:r>
            <a:endParaRPr lang="ar-SA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8356397" y="530352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accent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ورش وأكاديمية للأطفال</a:t>
            </a:r>
            <a:endParaRPr lang="ar-SA" sz="1500" dirty="0"/>
          </a:p>
        </p:txBody>
      </p:sp>
      <p:sp>
        <p:nvSpPr>
          <p:cNvPr id="23" name="Shape 17"/>
          <p:cNvSpPr/>
          <p:nvPr/>
        </p:nvSpPr>
        <p:spPr>
          <a:xfrm>
            <a:off x="4338218" y="3886200"/>
            <a:ext cx="3515258" cy="19202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6984797" y="4114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4817" y="4274820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566818" y="489204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chemeClr val="tx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الدراجات والسكوترات</a:t>
            </a:r>
            <a:endParaRPr lang="ar-SA" sz="2000" dirty="0"/>
          </a:p>
        </p:txBody>
      </p:sp>
      <p:sp>
        <p:nvSpPr>
          <p:cNvPr id="27" name="Text 20"/>
          <p:cNvSpPr txBox="1"/>
          <p:nvPr/>
        </p:nvSpPr>
        <p:spPr>
          <a:xfrm>
            <a:off x="4566818" y="530352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accent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تأجير وأنشطة ترفيهية</a:t>
            </a:r>
            <a:endParaRPr lang="ar-SA" sz="1500" dirty="0"/>
          </a:p>
        </p:txBody>
      </p:sp>
      <p:sp>
        <p:nvSpPr>
          <p:cNvPr id="28" name="Shape 21"/>
          <p:cNvSpPr/>
          <p:nvPr/>
        </p:nvSpPr>
        <p:spPr>
          <a:xfrm>
            <a:off x="548640" y="3886200"/>
            <a:ext cx="3515258" cy="192024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3195218" y="411480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5238" y="4274820"/>
            <a:ext cx="320040" cy="32004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77240" y="489204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chemeClr val="tx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الفعاليات</a:t>
            </a:r>
            <a:endParaRPr lang="ar-SA" sz="2000" dirty="0"/>
          </a:p>
        </p:txBody>
      </p:sp>
      <p:sp>
        <p:nvSpPr>
          <p:cNvPr id="32" name="Text 24"/>
          <p:cNvSpPr txBox="1"/>
          <p:nvPr/>
        </p:nvSpPr>
        <p:spPr>
          <a:xfrm>
            <a:off x="777240" y="530352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accent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مناسبات وبرامج على مدار العام</a:t>
            </a:r>
            <a:endParaRPr lang="ar-S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36792"/>
            <a:ext cx="667512" cy="32552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2"/>
                </a:solidFill>
                <a:latin typeface="Tajawal"/>
                <a:ea typeface="Tajawal"/>
                <a:cs typeface="Tajaw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5029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3400" b="1" dirty="0">
                <a:solidFill>
                  <a:schemeClr val="tx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الأثر المتوقع</a:t>
            </a:r>
            <a:endParaRPr lang="ar-SA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4023360" cy="43434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2011680"/>
            <a:ext cx="3383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chemeClr val="bg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 مساحة تحتاج إلى تشغيل وصيانة مستمرة… إلى وجهة متكاملة ومستدامة تخدم المجتمع</a:t>
            </a:r>
            <a:endParaRPr lang="ar-SA" sz="2600" dirty="0"/>
          </a:p>
        </p:txBody>
      </p:sp>
      <p:sp>
        <p:nvSpPr>
          <p:cNvPr id="5" name="Shape 3"/>
          <p:cNvSpPr/>
          <p:nvPr/>
        </p:nvSpPr>
        <p:spPr>
          <a:xfrm>
            <a:off x="11000232" y="17373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0252" y="189738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937760" y="16916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chemeClr val="tx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تحسين تجربة الزوار</a:t>
            </a:r>
            <a:endParaRPr lang="ar-SA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4937760" y="2075688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accent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خدمات ومرافق متكاملة للعائلات والرياضيين</a:t>
            </a:r>
            <a:endParaRPr lang="ar-SA" sz="1500" dirty="0"/>
          </a:p>
        </p:txBody>
      </p:sp>
      <p:sp>
        <p:nvSpPr>
          <p:cNvPr id="9" name="Shape 6"/>
          <p:cNvSpPr/>
          <p:nvPr/>
        </p:nvSpPr>
        <p:spPr>
          <a:xfrm>
            <a:off x="11000232" y="2615184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0252" y="2775204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937760" y="256946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chemeClr val="tx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زيادة جاذبية الموقع</a:t>
            </a:r>
            <a:endParaRPr lang="ar-SA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937760" y="2953512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accent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وجهة تستقطب السكان والزوار</a:t>
            </a:r>
            <a:endParaRPr lang="ar-SA" sz="1500" dirty="0"/>
          </a:p>
        </p:txBody>
      </p:sp>
      <p:sp>
        <p:nvSpPr>
          <p:cNvPr id="13" name="Shape 9"/>
          <p:cNvSpPr/>
          <p:nvPr/>
        </p:nvSpPr>
        <p:spPr>
          <a:xfrm>
            <a:off x="11000232" y="3493008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0252" y="3653028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937760" y="344728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chemeClr val="tx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تنشيط المجتمع المحلي</a:t>
            </a:r>
            <a:endParaRPr lang="ar-SA" sz="2000" dirty="0"/>
          </a:p>
        </p:txBody>
      </p:sp>
      <p:sp>
        <p:nvSpPr>
          <p:cNvPr id="16" name="Text 11"/>
          <p:cNvSpPr txBox="1"/>
          <p:nvPr/>
        </p:nvSpPr>
        <p:spPr>
          <a:xfrm>
            <a:off x="4937760" y="3831336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accent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فعاليات وأنشطة على مدار العام</a:t>
            </a:r>
            <a:endParaRPr lang="ar-SA" sz="1500" dirty="0"/>
          </a:p>
        </p:txBody>
      </p:sp>
      <p:sp>
        <p:nvSpPr>
          <p:cNvPr id="17" name="Shape 12"/>
          <p:cNvSpPr/>
          <p:nvPr/>
        </p:nvSpPr>
        <p:spPr>
          <a:xfrm>
            <a:off x="11000232" y="4370832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0252" y="4530852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937760" y="432511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chemeClr val="tx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استدامة تشغيلية وصيانة مستمرة</a:t>
            </a:r>
            <a:endParaRPr lang="ar-SA" sz="2000" dirty="0"/>
          </a:p>
        </p:txBody>
      </p:sp>
      <p:sp>
        <p:nvSpPr>
          <p:cNvPr id="20" name="Text 14"/>
          <p:cNvSpPr txBox="1"/>
          <p:nvPr/>
        </p:nvSpPr>
        <p:spPr>
          <a:xfrm>
            <a:off x="4937760" y="4709160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accent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مصادر دخل متنوعة تدعم الاستمرارية</a:t>
            </a:r>
            <a:endParaRPr lang="ar-SA" sz="1500" dirty="0"/>
          </a:p>
        </p:txBody>
      </p:sp>
      <p:sp>
        <p:nvSpPr>
          <p:cNvPr id="21" name="Shape 15"/>
          <p:cNvSpPr/>
          <p:nvPr/>
        </p:nvSpPr>
        <p:spPr>
          <a:xfrm>
            <a:off x="11000232" y="5248656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60252" y="5408676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4937760" y="5202936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chemeClr val="tx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تخفيف الأعباء عن الأمانة</a:t>
            </a:r>
            <a:endParaRPr lang="ar-SA" sz="2000" dirty="0"/>
          </a:p>
        </p:txBody>
      </p:sp>
      <p:sp>
        <p:nvSpPr>
          <p:cNvPr id="24" name="Text 17"/>
          <p:cNvSpPr txBox="1"/>
          <p:nvPr/>
        </p:nvSpPr>
        <p:spPr>
          <a:xfrm>
            <a:off x="4937760" y="5586984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accent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تشغيل وصيانة وتطوير بإدارة متخصصة</a:t>
            </a:r>
            <a:endParaRPr lang="ar-S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36792"/>
            <a:ext cx="667512" cy="32552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2"/>
                </a:solidFill>
                <a:latin typeface="Tajawal"/>
                <a:ea typeface="Tajawal"/>
                <a:cs typeface="Tajaw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4" type="title" hasCustomPrompt="1"/>
          </p:nvPr>
        </p:nvSpPr>
        <p:spPr>
          <a:xfrm>
            <a:off x="5669280" y="2286000"/>
            <a:ext cx="597103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chemeClr val="bg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ممشى العصان</a:t>
            </a:r>
            <a:endParaRPr lang="ar-SA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669280" y="1463040"/>
            <a:ext cx="5971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chemeClr val="accent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02</a:t>
            </a:r>
            <a:endParaRPr lang="ar-SA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669280" y="4846320"/>
            <a:ext cx="5971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chemeClr val="accent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الجزء الثاني: تكييف الفكرة حسب الموقع</a:t>
            </a:r>
            <a:endParaRPr lang="ar-SA" sz="2200" dirty="0"/>
          </a:p>
        </p:txBody>
      </p:sp>
      <p:sp>
        <p:nvSpPr>
          <p:cNvPr id="5" name="Text 2"/>
          <p:cNvSpPr/>
          <p:nvPr>
            <p:ph idx="102" hasCustomPrompt="1"/>
          </p:nvPr>
        </p:nvSpPr>
        <p:spPr>
          <a:xfrm>
            <a:off x="0" y="0"/>
            <a:ext cx="5029200" cy="685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4" type="title" hasCustomPrompt="1"/>
          </p:nvPr>
        </p:nvSpPr>
        <p:spPr>
          <a:xfrm>
            <a:off x="548640" y="5029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3400" b="1" dirty="0">
                <a:solidFill>
                  <a:schemeClr val="tx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المخطط العام لممشى العصان</a:t>
            </a:r>
            <a:endParaRPr lang="ar-SA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accent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الفكرة نفسها بتوزيع يتكيّف مع الموقع، وليس نسخاً للتصميم</a:t>
            </a:r>
            <a:endParaRPr lang="ar-SA" sz="1800" dirty="0"/>
          </a:p>
        </p:txBody>
      </p:sp>
      <p:sp>
        <p:nvSpPr>
          <p:cNvPr id="4" name="Shape 2"/>
          <p:cNvSpPr/>
          <p:nvPr/>
        </p:nvSpPr>
        <p:spPr>
          <a:xfrm>
            <a:off x="11247120" y="17830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4712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chemeClr val="bg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ar-SA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17830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توزيع العناصر حسب مساحة الموقع</a:t>
            </a:r>
            <a:endParaRPr lang="ar-SA" sz="1600" dirty="0"/>
          </a:p>
        </p:txBody>
      </p:sp>
      <p:sp>
        <p:nvSpPr>
          <p:cNvPr id="7" name="Shape 5"/>
          <p:cNvSpPr/>
          <p:nvPr/>
        </p:nvSpPr>
        <p:spPr>
          <a:xfrm>
            <a:off x="11247120" y="2651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24712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chemeClr val="bg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ar-SA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503920" y="26517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مراعاة طبيعة الموقع وتفاصيله الفعلية</a:t>
            </a:r>
            <a:endParaRPr lang="ar-SA" sz="1600" dirty="0"/>
          </a:p>
        </p:txBody>
      </p:sp>
      <p:sp>
        <p:nvSpPr>
          <p:cNvPr id="10" name="Shape 8"/>
          <p:cNvSpPr/>
          <p:nvPr/>
        </p:nvSpPr>
        <p:spPr>
          <a:xfrm>
            <a:off x="11247120" y="35204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24712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chemeClr val="bg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ar-SA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503920" y="35204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تلبية احتياجات مرتادي ممشى العصان</a:t>
            </a:r>
            <a:endParaRPr lang="ar-SA" sz="1600" dirty="0"/>
          </a:p>
        </p:txBody>
      </p:sp>
      <p:sp>
        <p:nvSpPr>
          <p:cNvPr id="13" name="Shape 11"/>
          <p:cNvSpPr/>
          <p:nvPr/>
        </p:nvSpPr>
        <p:spPr>
          <a:xfrm>
            <a:off x="11247120" y="43891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24712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chemeClr val="bg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ar-SA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438912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استخدام صور الموقع في بناء التصوّر</a:t>
            </a:r>
            <a:endParaRPr lang="ar-SA" sz="1600" dirty="0"/>
          </a:p>
        </p:txBody>
      </p:sp>
      <p:sp>
        <p:nvSpPr>
          <p:cNvPr id="16" name="Text 2"/>
          <p:cNvSpPr/>
          <p:nvPr>
            <p:ph idx="102" hasCustomPrompt="1"/>
          </p:nvPr>
        </p:nvSpPr>
        <p:spPr>
          <a:xfrm>
            <a:off x="548640" y="1691640"/>
            <a:ext cx="7680960" cy="434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36792"/>
            <a:ext cx="667512" cy="32552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2"/>
                </a:solidFill>
                <a:latin typeface="Tajawal"/>
                <a:ea typeface="Tajawal"/>
                <a:cs typeface="Tajaw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8" type="title" hasCustomPrompt="1"/>
          </p:nvPr>
        </p:nvSpPr>
        <p:spPr>
          <a:xfrm>
            <a:off x="548640" y="5029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3400" b="1" dirty="0">
                <a:solidFill>
                  <a:schemeClr val="tx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التصوّرات البصرية لممشى العصان</a:t>
            </a:r>
            <a:endParaRPr lang="ar-SA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accent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تُضاف التصوّرات بعد استلام صور الموقع الفعلية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532120"/>
            <a:ext cx="3511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chemeClr val="accent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التصوّر (3)</a:t>
            </a:r>
            <a:endParaRPr lang="ar-SA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338828" y="5532120"/>
            <a:ext cx="3511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chemeClr val="accent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التصوّر (2)</a:t>
            </a:r>
            <a:endParaRPr lang="ar-SA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129016" y="5532120"/>
            <a:ext cx="3511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chemeClr val="accent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التصوّر (1)</a:t>
            </a:r>
            <a:endParaRPr lang="ar-SA" sz="1600" dirty="0"/>
          </a:p>
        </p:txBody>
      </p:sp>
      <p:sp>
        <p:nvSpPr>
          <p:cNvPr id="7" name="Text 2"/>
          <p:cNvSpPr/>
          <p:nvPr>
            <p:ph idx="102" hasCustomPrompt="1"/>
          </p:nvPr>
        </p:nvSpPr>
        <p:spPr>
          <a:xfrm>
            <a:off x="548640" y="1737360"/>
            <a:ext cx="3511296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8" name="Text 3"/>
          <p:cNvSpPr/>
          <p:nvPr>
            <p:ph idx="104" hasCustomPrompt="1"/>
          </p:nvPr>
        </p:nvSpPr>
        <p:spPr>
          <a:xfrm>
            <a:off x="4343400" y="1737360"/>
            <a:ext cx="3511296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9" name="Text 4"/>
          <p:cNvSpPr/>
          <p:nvPr>
            <p:ph idx="106" hasCustomPrompt="1"/>
          </p:nvPr>
        </p:nvSpPr>
        <p:spPr>
          <a:xfrm>
            <a:off x="8129016" y="1737360"/>
            <a:ext cx="3511296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36792"/>
            <a:ext cx="667512" cy="32552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2"/>
                </a:solidFill>
                <a:latin typeface="Tajawal"/>
                <a:ea typeface="Tajawal"/>
                <a:cs typeface="Tajawal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4" type="title" hasCustomPrompt="1"/>
          </p:nvPr>
        </p:nvSpPr>
        <p:spPr>
          <a:xfrm>
            <a:off x="5669280" y="2286000"/>
            <a:ext cx="597103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ar-SA" altLang="en-US" sz="5400" b="1" dirty="0">
                <a:solidFill>
                  <a:schemeClr val="bg1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وجهة متكاملة</a:t>
            </a:r>
            <a:endParaRPr lang="ar-SA" sz="5400" dirty="0"/>
          </a:p>
          <a:p>
            <a:pPr algn="r" indent="0" marL="0">
              <a:buNone/>
            </a:pPr>
            <a:r>
              <a:rPr lang="ar-SA" altLang="en-US" sz="5400" b="1" dirty="0">
                <a:solidFill>
                  <a:schemeClr val="accent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ومستدامة</a:t>
            </a:r>
            <a:endParaRPr lang="ar-SA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669280" y="4846320"/>
            <a:ext cx="5971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chemeClr val="accent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شكراً لكم</a:t>
            </a:r>
            <a:endParaRPr lang="ar-SA" sz="2800" dirty="0"/>
          </a:p>
        </p:txBody>
      </p:sp>
      <p:sp>
        <p:nvSpPr>
          <p:cNvPr id="4" name="Text 2"/>
          <p:cNvSpPr/>
          <p:nvPr>
            <p:ph idx="102" hasCustomPrompt="1"/>
          </p:nvPr>
        </p:nvSpPr>
        <p:spPr>
          <a:xfrm>
            <a:off x="0" y="0"/>
            <a:ext cx="5029200" cy="685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rog Sand &amp; Olive">
  <a:themeElements>
    <a:clrScheme name="Merog Sand &amp; Olive">
      <a:dk1>
        <a:srgbClr val="2B2A22"/>
      </a:dk1>
      <a:lt1>
        <a:srgbClr val="FFFFFF"/>
      </a:lt1>
      <a:dk2>
        <a:srgbClr val="2F3524"/>
      </a:dk2>
      <a:lt2>
        <a:srgbClr val="F4EFE4"/>
      </a:lt2>
      <a:accent1>
        <a:srgbClr val="5F6B3A"/>
      </a:accent1>
      <a:accent2>
        <a:srgbClr val="7A5C3E"/>
      </a:accent2>
      <a:accent3>
        <a:srgbClr val="E3D5B5"/>
      </a:accent3>
      <a:accent4>
        <a:srgbClr val="B9B7AE"/>
      </a:accent4>
      <a:accent5>
        <a:srgbClr val="C0B098"/>
      </a:accent5>
      <a:accent6>
        <a:srgbClr val="D9822B"/>
      </a:accent6>
      <a:hlink>
        <a:srgbClr val="5F6B3A"/>
      </a:hlink>
      <a:folHlink>
        <a:srgbClr val="7A5C3E"/>
      </a:folHlink>
    </a:clrScheme>
    <a:fontScheme name="Merog Sand &amp; Olive">
      <a:majorFont>
        <a:latin typeface="Tajaw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ajaw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ممشى المروج وممشى العصان</dc:title>
  <dc:subject>PptxGenJS Presentation</dc:subject>
  <dc:creator>AHB</dc:creator>
  <cp:lastModifiedBy>AHB</cp:lastModifiedBy>
  <cp:revision>1</cp:revision>
  <dcterms:created xsi:type="dcterms:W3CDTF">2026-10-26T11:42:14Z</dcterms:created>
  <dcterms:modified xsi:type="dcterms:W3CDTF">2026-10-26T11:42:14Z</dcterms:modified>
</cp:coreProperties>
</file>